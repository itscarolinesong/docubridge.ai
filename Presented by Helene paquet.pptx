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oppins Semi-Bold" charset="1" panose="00000700000000000000"/>
      <p:regular r:id="rId10"/>
    </p:embeddedFont>
    <p:embeddedFont>
      <p:font typeface="Poppins" charset="1" panose="00000500000000000000"/>
      <p:regular r:id="rId11"/>
    </p:embeddedFont>
    <p:embeddedFont>
      <p:font typeface="Poppins Bold" charset="1" panose="00000800000000000000"/>
      <p:regular r:id="rId12"/>
    </p:embeddedFont>
    <p:embeddedFont>
      <p:font typeface="Open Sans 2" charset="1" panose="00000000000000000000"/>
      <p:regular r:id="rId13"/>
    </p:embeddedFont>
    <p:embeddedFont>
      <p:font typeface="Public Sans" charset="1" panose="00000000000000000000"/>
      <p:regular r:id="rId14"/>
    </p:embeddedFont>
    <p:embeddedFont>
      <p:font typeface="Open Sans 1 Light" charset="1" panose="020B0306030504020204"/>
      <p:regular r:id="rId15"/>
    </p:embeddedFont>
    <p:embeddedFont>
      <p:font typeface="Playpen Sans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41633" y="-445819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70CBFF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618975" y="6261625"/>
            <a:ext cx="6572698" cy="672279"/>
            <a:chOff x="0" y="0"/>
            <a:chExt cx="1731081" cy="177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1081" cy="177061"/>
            </a:xfrm>
            <a:custGeom>
              <a:avLst/>
              <a:gdLst/>
              <a:ahLst/>
              <a:cxnLst/>
              <a:rect r="r" b="b" t="t" l="l"/>
              <a:pathLst>
                <a:path h="177061" w="1731081">
                  <a:moveTo>
                    <a:pt x="60072" y="0"/>
                  </a:moveTo>
                  <a:lnTo>
                    <a:pt x="1671008" y="0"/>
                  </a:lnTo>
                  <a:cubicBezTo>
                    <a:pt x="1704186" y="0"/>
                    <a:pt x="1731081" y="26895"/>
                    <a:pt x="1731081" y="60072"/>
                  </a:cubicBezTo>
                  <a:lnTo>
                    <a:pt x="1731081" y="116989"/>
                  </a:lnTo>
                  <a:cubicBezTo>
                    <a:pt x="1731081" y="150166"/>
                    <a:pt x="1704186" y="177061"/>
                    <a:pt x="1671008" y="177061"/>
                  </a:cubicBezTo>
                  <a:lnTo>
                    <a:pt x="60072" y="177061"/>
                  </a:lnTo>
                  <a:cubicBezTo>
                    <a:pt x="26895" y="177061"/>
                    <a:pt x="0" y="150166"/>
                    <a:pt x="0" y="116989"/>
                  </a:cubicBezTo>
                  <a:lnTo>
                    <a:pt x="0" y="60072"/>
                  </a:lnTo>
                  <a:cubicBezTo>
                    <a:pt x="0" y="26895"/>
                    <a:pt x="26895" y="0"/>
                    <a:pt x="60072" y="0"/>
                  </a:cubicBezTo>
                  <a:close/>
                </a:path>
              </a:pathLst>
            </a:custGeom>
            <a:solidFill>
              <a:srgbClr val="FBF6F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31081" cy="215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10563" y="4182261"/>
            <a:ext cx="13066873" cy="165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DocuBridge.AI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56725" y="6377797"/>
            <a:ext cx="5297196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HelloWorld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3889" y="6414156"/>
            <a:ext cx="6902188" cy="3872844"/>
          </a:xfrm>
          <a:custGeom>
            <a:avLst/>
            <a:gdLst/>
            <a:ahLst/>
            <a:cxnLst/>
            <a:rect r="r" b="b" t="t" l="l"/>
            <a:pathLst>
              <a:path h="3872844" w="6902188">
                <a:moveTo>
                  <a:pt x="0" y="0"/>
                </a:moveTo>
                <a:lnTo>
                  <a:pt x="6902188" y="0"/>
                </a:lnTo>
                <a:lnTo>
                  <a:pt x="6902188" y="3872844"/>
                </a:lnTo>
                <a:lnTo>
                  <a:pt x="0" y="3872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6777824" cy="3597856"/>
          </a:xfrm>
          <a:custGeom>
            <a:avLst/>
            <a:gdLst/>
            <a:ahLst/>
            <a:cxnLst/>
            <a:rect r="r" b="b" t="t" l="l"/>
            <a:pathLst>
              <a:path h="3597856" w="6777824">
                <a:moveTo>
                  <a:pt x="0" y="0"/>
                </a:moveTo>
                <a:lnTo>
                  <a:pt x="6777824" y="0"/>
                </a:lnTo>
                <a:lnTo>
                  <a:pt x="6777824" y="3597856"/>
                </a:lnTo>
                <a:lnTo>
                  <a:pt x="0" y="359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83" r="0" b="-298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777824" y="-314584"/>
            <a:ext cx="12060968" cy="10601584"/>
            <a:chOff x="0" y="0"/>
            <a:chExt cx="3176551" cy="27921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6551" cy="2792187"/>
            </a:xfrm>
            <a:custGeom>
              <a:avLst/>
              <a:gdLst/>
              <a:ahLst/>
              <a:cxnLst/>
              <a:rect r="r" b="b" t="t" l="l"/>
              <a:pathLst>
                <a:path h="2792187" w="3176551">
                  <a:moveTo>
                    <a:pt x="0" y="0"/>
                  </a:moveTo>
                  <a:lnTo>
                    <a:pt x="3176551" y="0"/>
                  </a:lnTo>
                  <a:lnTo>
                    <a:pt x="3176551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C2E9FF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76551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3198410"/>
            <a:ext cx="6777824" cy="3688043"/>
          </a:xfrm>
          <a:custGeom>
            <a:avLst/>
            <a:gdLst/>
            <a:ahLst/>
            <a:cxnLst/>
            <a:rect r="r" b="b" t="t" l="l"/>
            <a:pathLst>
              <a:path h="3688043" w="6777824">
                <a:moveTo>
                  <a:pt x="0" y="0"/>
                </a:moveTo>
                <a:lnTo>
                  <a:pt x="6777824" y="0"/>
                </a:lnTo>
                <a:lnTo>
                  <a:pt x="6777824" y="3688042"/>
                </a:lnTo>
                <a:lnTo>
                  <a:pt x="0" y="3688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252" t="0" r="-18690" b="-5598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784815" y="3071465"/>
            <a:ext cx="8011990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84815" y="4654151"/>
            <a:ext cx="8474485" cy="223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318" spc="1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</a:t>
            </a:r>
            <a:r>
              <a:rPr lang="en-US" sz="3318" spc="199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octors spend an excessive amount of time manually writing pathology reports from EMRs, creating a redundant and frustrating workflow.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3134" y="1616740"/>
            <a:ext cx="6830714" cy="2128485"/>
            <a:chOff x="0" y="0"/>
            <a:chExt cx="2286638" cy="712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C2E9FF">
                <a:alpha val="8470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1925"/>
                </a:lnSpc>
              </a:pPr>
              <a:r>
                <a:rPr lang="en-US" sz="2500" spc="-205">
                  <a:solidFill>
                    <a:srgbClr val="648E38">
                      <a:alpha val="84706"/>
                    </a:srgbClr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              Transferable </a:t>
              </a:r>
              <a:r>
                <a:rPr lang="en-US" sz="2500" spc="-205">
                  <a:solidFill>
                    <a:srgbClr val="648E38">
                      <a:alpha val="84706"/>
                    </a:srgbClr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EMR Data Run Locally  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83134" y="4079914"/>
            <a:ext cx="6830714" cy="2128485"/>
            <a:chOff x="0" y="0"/>
            <a:chExt cx="2286638" cy="7125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C2E9FF">
                <a:alpha val="8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1925"/>
                </a:lnSpc>
              </a:pPr>
              <a:r>
                <a:rPr lang="en-US" sz="2500" spc="-205">
                  <a:solidFill>
                    <a:srgbClr val="648E38">
                      <a:alpha val="84706"/>
                    </a:srgbClr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Secure Hospital-ID Login</a:t>
              </a:r>
              <a:r>
                <a:rPr lang="en-US" sz="2500" spc="-205">
                  <a:solidFill>
                    <a:srgbClr val="74CC00">
                      <a:alpha val="84706"/>
                    </a:srgbClr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                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83134" y="6649932"/>
            <a:ext cx="6830714" cy="2128485"/>
            <a:chOff x="0" y="0"/>
            <a:chExt cx="2286638" cy="7125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C2E9FF">
                <a:alpha val="8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  <a:r>
                <a:rPr lang="en-US" sz="2500" spc="-205">
                  <a:solidFill>
                    <a:srgbClr val="74CC00">
                      <a:alpha val="84706"/>
                    </a:srgbClr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           </a:t>
              </a:r>
              <a:r>
                <a:rPr lang="en-US" sz="2500" spc="-205">
                  <a:solidFill>
                    <a:srgbClr val="648E38">
                      <a:alpha val="84706"/>
                    </a:srgbClr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    Cedar OS Customizable AI Report 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2118262" y="2375876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2118262" y="4774758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2137312" y="7300910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62395" y="8127354"/>
            <a:ext cx="5058196" cy="651063"/>
            <a:chOff x="0" y="0"/>
            <a:chExt cx="1332200" cy="1714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2200" cy="171473"/>
            </a:xfrm>
            <a:custGeom>
              <a:avLst/>
              <a:gdLst/>
              <a:ahLst/>
              <a:cxnLst/>
              <a:rect r="r" b="b" t="t" l="l"/>
              <a:pathLst>
                <a:path h="171473" w="1332200">
                  <a:moveTo>
                    <a:pt x="78059" y="0"/>
                  </a:moveTo>
                  <a:lnTo>
                    <a:pt x="1254141" y="0"/>
                  </a:lnTo>
                  <a:cubicBezTo>
                    <a:pt x="1297252" y="0"/>
                    <a:pt x="1332200" y="34948"/>
                    <a:pt x="1332200" y="78059"/>
                  </a:cubicBezTo>
                  <a:lnTo>
                    <a:pt x="1332200" y="93414"/>
                  </a:lnTo>
                  <a:cubicBezTo>
                    <a:pt x="1332200" y="114117"/>
                    <a:pt x="1323976" y="133972"/>
                    <a:pt x="1309337" y="148611"/>
                  </a:cubicBezTo>
                  <a:cubicBezTo>
                    <a:pt x="1294698" y="163249"/>
                    <a:pt x="1274843" y="171473"/>
                    <a:pt x="1254141" y="171473"/>
                  </a:cubicBezTo>
                  <a:lnTo>
                    <a:pt x="78059" y="171473"/>
                  </a:lnTo>
                  <a:cubicBezTo>
                    <a:pt x="57356" y="171473"/>
                    <a:pt x="37502" y="163249"/>
                    <a:pt x="22863" y="148611"/>
                  </a:cubicBezTo>
                  <a:cubicBezTo>
                    <a:pt x="8224" y="133972"/>
                    <a:pt x="0" y="114117"/>
                    <a:pt x="0" y="93414"/>
                  </a:cubicBezTo>
                  <a:lnTo>
                    <a:pt x="0" y="78059"/>
                  </a:lnTo>
                  <a:cubicBezTo>
                    <a:pt x="0" y="57356"/>
                    <a:pt x="8224" y="37502"/>
                    <a:pt x="22863" y="22863"/>
                  </a:cubicBezTo>
                  <a:cubicBezTo>
                    <a:pt x="37502" y="8224"/>
                    <a:pt x="57356" y="0"/>
                    <a:pt x="78059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32200" cy="209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555328" y="4479388"/>
            <a:ext cx="1089144" cy="1328225"/>
          </a:xfrm>
          <a:custGeom>
            <a:avLst/>
            <a:gdLst/>
            <a:ahLst/>
            <a:cxnLst/>
            <a:rect r="r" b="b" t="t" l="l"/>
            <a:pathLst>
              <a:path h="1328225" w="1089144">
                <a:moveTo>
                  <a:pt x="0" y="0"/>
                </a:moveTo>
                <a:lnTo>
                  <a:pt x="1089144" y="0"/>
                </a:lnTo>
                <a:lnTo>
                  <a:pt x="1089144" y="1328224"/>
                </a:lnTo>
                <a:lnTo>
                  <a:pt x="0" y="1328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448439" y="6822729"/>
            <a:ext cx="1302922" cy="1521661"/>
          </a:xfrm>
          <a:custGeom>
            <a:avLst/>
            <a:gdLst/>
            <a:ahLst/>
            <a:cxnLst/>
            <a:rect r="r" b="b" t="t" l="l"/>
            <a:pathLst>
              <a:path h="1521661" w="1302922">
                <a:moveTo>
                  <a:pt x="0" y="0"/>
                </a:moveTo>
                <a:lnTo>
                  <a:pt x="1302922" y="0"/>
                </a:lnTo>
                <a:lnTo>
                  <a:pt x="1302922" y="1521661"/>
                </a:lnTo>
                <a:lnTo>
                  <a:pt x="0" y="1521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97275" y="1912084"/>
            <a:ext cx="1205250" cy="1537799"/>
          </a:xfrm>
          <a:custGeom>
            <a:avLst/>
            <a:gdLst/>
            <a:ahLst/>
            <a:cxnLst/>
            <a:rect r="r" b="b" t="t" l="l"/>
            <a:pathLst>
              <a:path h="1537799" w="1205250">
                <a:moveTo>
                  <a:pt x="0" y="0"/>
                </a:moveTo>
                <a:lnTo>
                  <a:pt x="1205250" y="0"/>
                </a:lnTo>
                <a:lnTo>
                  <a:pt x="1205250" y="1537799"/>
                </a:lnTo>
                <a:lnTo>
                  <a:pt x="0" y="1537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62395" y="2769757"/>
            <a:ext cx="8537476" cy="132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8472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Our Mission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7641" y="8298080"/>
            <a:ext cx="3007705" cy="3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19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Healthcare Efficiency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2395" y="4481156"/>
            <a:ext cx="9233619" cy="310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9"/>
              </a:lnSpc>
              <a:spcBef>
                <a:spcPct val="0"/>
              </a:spcBef>
            </a:pPr>
            <a:r>
              <a:rPr lang="en-US" sz="2557">
                <a:solidFill>
                  <a:srgbClr val="1C212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S</a:t>
            </a:r>
            <a:r>
              <a:rPr lang="en-US" sz="2557">
                <a:solidFill>
                  <a:srgbClr val="1C212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ecure, localized platform for directly editing faxed medical records, enabling doctors to digitally type, sign, and manage documents without retyping. </a:t>
            </a:r>
          </a:p>
          <a:p>
            <a:pPr algn="l">
              <a:lnSpc>
                <a:spcPts val="3579"/>
              </a:lnSpc>
              <a:spcBef>
                <a:spcPct val="0"/>
              </a:spcBef>
            </a:pPr>
          </a:p>
          <a:p>
            <a:pPr algn="l">
              <a:lnSpc>
                <a:spcPts val="3579"/>
              </a:lnSpc>
              <a:spcBef>
                <a:spcPct val="0"/>
              </a:spcBef>
            </a:pPr>
            <a:r>
              <a:rPr lang="en-US" sz="2557">
                <a:solidFill>
                  <a:srgbClr val="1C212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This streamlines workflows, reduces redundancy, and ensures up-to-date, legible records—freeing up time for clinical care and supporting faster, informed decisions.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6537" y="2529019"/>
            <a:ext cx="1221315" cy="122131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6537" y="4364042"/>
            <a:ext cx="1221315" cy="122131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1341" y="6199066"/>
            <a:ext cx="1221315" cy="12213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46537" y="860470"/>
            <a:ext cx="1221315" cy="12213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4800" y="7505953"/>
            <a:ext cx="4845334" cy="582575"/>
            <a:chOff x="0" y="0"/>
            <a:chExt cx="1276137" cy="1534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46537" y="8029980"/>
            <a:ext cx="1221315" cy="122131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945705" y="5366335"/>
            <a:ext cx="3488773" cy="1090242"/>
          </a:xfrm>
          <a:custGeom>
            <a:avLst/>
            <a:gdLst/>
            <a:ahLst/>
            <a:cxnLst/>
            <a:rect r="r" b="b" t="t" l="l"/>
            <a:pathLst>
              <a:path h="1090242" w="3488773">
                <a:moveTo>
                  <a:pt x="0" y="0"/>
                </a:moveTo>
                <a:lnTo>
                  <a:pt x="3488773" y="0"/>
                </a:lnTo>
                <a:lnTo>
                  <a:pt x="3488773" y="1090242"/>
                </a:lnTo>
                <a:lnTo>
                  <a:pt x="0" y="1090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06524" y="3480252"/>
            <a:ext cx="6891468" cy="132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8472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Process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86239" y="7642453"/>
            <a:ext cx="3007705" cy="31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19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Exploring creativity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14685" y="1014491"/>
            <a:ext cx="82960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Localized integration allows HCPs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to log in using their Hospital ID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9774" y="2862340"/>
            <a:ext cx="829493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Upload </a:t>
            </a:r>
            <a:r>
              <a:rPr lang="en-US" sz="3000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patient EMR for OCR-based data analysis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00631" y="1040898"/>
            <a:ext cx="313126" cy="8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1"/>
              </a:lnSpc>
              <a:spcBef>
                <a:spcPct val="0"/>
              </a:spcBef>
            </a:pPr>
            <a:r>
              <a:rPr lang="en-US" b="true" sz="5158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27588" y="6318782"/>
            <a:ext cx="446128" cy="8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1"/>
              </a:lnSpc>
              <a:spcBef>
                <a:spcPct val="0"/>
              </a:spcBef>
            </a:pPr>
            <a:r>
              <a:rPr lang="en-US" b="true" sz="5158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42660" y="4487814"/>
            <a:ext cx="429068" cy="8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1"/>
              </a:lnSpc>
              <a:spcBef>
                <a:spcPct val="0"/>
              </a:spcBef>
            </a:pPr>
            <a:r>
              <a:rPr lang="en-US" b="true" sz="5158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27588" y="2661205"/>
            <a:ext cx="459213" cy="8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1"/>
              </a:lnSpc>
              <a:spcBef>
                <a:spcPct val="0"/>
              </a:spcBef>
            </a:pPr>
            <a:r>
              <a:rPr lang="en-US" b="true" sz="5158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14685" y="4535439"/>
            <a:ext cx="8056943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Unlimited report refinement 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with side by side EMR view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20524" y="8331128"/>
            <a:ext cx="8579274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Finalize the report, download as PDF, and repeat!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68217" y="8115705"/>
            <a:ext cx="418584" cy="8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1"/>
              </a:lnSpc>
              <a:spcBef>
                <a:spcPct val="0"/>
              </a:spcBef>
            </a:pPr>
            <a:r>
              <a:rPr lang="en-US" b="true" sz="5158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14685" y="6366407"/>
            <a:ext cx="8585113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Input patient details, clinical history, 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laboratory results, and doctor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DAG0OwIv8qE</dc:identifier>
  <dcterms:modified xsi:type="dcterms:W3CDTF">2011-08-01T06:04:30Z</dcterms:modified>
  <cp:revision>1</cp:revision>
  <dc:title>Presented by Helene paquet</dc:title>
</cp:coreProperties>
</file>